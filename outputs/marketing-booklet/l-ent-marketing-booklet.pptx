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e67b9ecd34fbe" /><Relationship Type="http://schemas.openxmlformats.org/officeDocument/2006/relationships/extended-properties" Target="/docProps/app.xml" Id="Re8bd90d7f6a04e89" /><Relationship Type="http://schemas.openxmlformats.org/officeDocument/2006/relationships/officeDocument" Target="/ppt/presentation.xml" Id="R22dbf9d44913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13d052b5c4a5b"/>
  </p:sldMasterIdLst>
  <p:notesMasterIdLst>
    <p:notesMasterId xmlns:r="http://schemas.openxmlformats.org/officeDocument/2006/relationships" r:id="R4982103b37f64369"/>
  </p:notesMasterIdLst>
  <p:sldIdLst>
    <p:sldId xmlns:r="http://schemas.openxmlformats.org/officeDocument/2006/relationships" id="256" r:id="R069204ebd3cc4f3b"/>
    <p:sldId xmlns:r="http://schemas.openxmlformats.org/officeDocument/2006/relationships" id="257" r:id="Rd3c05de9ae76447b"/>
    <p:sldId xmlns:r="http://schemas.openxmlformats.org/officeDocument/2006/relationships" id="258" r:id="R8fd397849f03448b"/>
    <p:sldId xmlns:r="http://schemas.openxmlformats.org/officeDocument/2006/relationships" id="259" r:id="R9516dda7b3884f29"/>
    <p:sldId xmlns:r="http://schemas.openxmlformats.org/officeDocument/2006/relationships" id="260" r:id="Rc0fcee389390481f"/>
    <p:sldId xmlns:r="http://schemas.openxmlformats.org/officeDocument/2006/relationships" id="261" r:id="R8019357984be4cff"/>
    <p:sldId xmlns:r="http://schemas.openxmlformats.org/officeDocument/2006/relationships" id="262" r:id="Rff7304aa36f44d92"/>
    <p:sldId xmlns:r="http://schemas.openxmlformats.org/officeDocument/2006/relationships" id="263" r:id="Rf6493504a12744a5"/>
  </p:sldIdLst>
  <p:sldSz cx="11811000" cy="167068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13d052b5c4a5b" /><Relationship Type="http://schemas.openxmlformats.org/officeDocument/2006/relationships/theme" Target="/ppt/theme/theme1.xml" Id="R37eb0bf06d124806" /><Relationship Type="http://schemas.openxmlformats.org/officeDocument/2006/relationships/notesMaster" Target="/ppt/notesMasters/notesMaster1.xml" Id="R4982103b37f64369" /><Relationship Type="http://schemas.openxmlformats.org/officeDocument/2006/relationships/presProps" Target="/ppt/presProps.xml" Id="Rc4b661c9b74f4231" /><Relationship Type="http://schemas.openxmlformats.org/officeDocument/2006/relationships/viewProps" Target="/ppt/viewProps.xml" Id="Rf5c81a5551c44f84" /><Relationship Type="http://schemas.openxmlformats.org/officeDocument/2006/relationships/tableStyles" Target="/ppt/tableStyles.xml" Id="R61878650f7e34ff1" /><Relationship Type="http://schemas.openxmlformats.org/officeDocument/2006/relationships/slide" Target="/ppt/slides/slide1.xml" Id="R069204ebd3cc4f3b" /><Relationship Type="http://schemas.openxmlformats.org/officeDocument/2006/relationships/slide" Target="/ppt/slides/slide2.xml" Id="Rd3c05de9ae76447b" /><Relationship Type="http://schemas.openxmlformats.org/officeDocument/2006/relationships/slide" Target="/ppt/slides/slide3.xml" Id="R8fd397849f03448b" /><Relationship Type="http://schemas.openxmlformats.org/officeDocument/2006/relationships/slide" Target="/ppt/slides/slide4.xml" Id="R9516dda7b3884f29" /><Relationship Type="http://schemas.openxmlformats.org/officeDocument/2006/relationships/slide" Target="/ppt/slides/slide5.xml" Id="Rc0fcee389390481f" /><Relationship Type="http://schemas.openxmlformats.org/officeDocument/2006/relationships/slide" Target="/ppt/slides/slide6.xml" Id="R8019357984be4cff" /><Relationship Type="http://schemas.openxmlformats.org/officeDocument/2006/relationships/slide" Target="/ppt/slides/slide7.xml" Id="Rff7304aa36f44d92" /><Relationship Type="http://schemas.openxmlformats.org/officeDocument/2006/relationships/slide" Target="/ppt/slides/slide8.xml" Id="Rf6493504a12744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bc7a840d68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797d0aedc4f14" /><Relationship Type="http://schemas.openxmlformats.org/officeDocument/2006/relationships/notesMaster" Target="/ppt/notesMasters/notesMaster1.xml" Id="R60068f2fe03d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17c0cf965546f7" /><Relationship Type="http://schemas.openxmlformats.org/officeDocument/2006/relationships/notesMaster" Target="/ppt/notesMasters/notesMaster1.xml" Id="Rfefda42e6e05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a09121ce5d47dc" /><Relationship Type="http://schemas.openxmlformats.org/officeDocument/2006/relationships/notesMaster" Target="/ppt/notesMasters/notesMaster1.xml" Id="Ra37d633c48b74f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b50aaef4cd4b8e" /><Relationship Type="http://schemas.openxmlformats.org/officeDocument/2006/relationships/notesMaster" Target="/ppt/notesMasters/notesMaster1.xml" Id="R0239fdb6c99b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fc26c677a48e8" /><Relationship Type="http://schemas.openxmlformats.org/officeDocument/2006/relationships/notesMaster" Target="/ppt/notesMasters/notesMaster1.xml" Id="R5ec762c68e6649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dd8776fee403a" /><Relationship Type="http://schemas.openxmlformats.org/officeDocument/2006/relationships/notesMaster" Target="/ppt/notesMasters/notesMaster1.xml" Id="Rc4b2fe44a87e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4ef9c8db9f431e" /><Relationship Type="http://schemas.openxmlformats.org/officeDocument/2006/relationships/notesMaster" Target="/ppt/notesMasters/notesMaster1.xml" Id="R985526b7d9a2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9390535154321" /><Relationship Type="http://schemas.openxmlformats.org/officeDocument/2006/relationships/notesMaster" Target="/ppt/notesMasters/notesMaster1.xml" Id="R87e980d3e1b749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a662e0a654d0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2E29EB9-2ACC-4658-B003-7CCFE458188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BBB576-D5A0-4907-9A08-7E03A9AB2F5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16F6AE-8633-4706-B1E7-6EA14D880BA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CE40CA-DD28-4AAF-BA9E-1869004AF42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0f4ee0d3efc4ec9" /><Relationship Type="http://schemas.openxmlformats.org/officeDocument/2006/relationships/slideLayout" Target="/ppt/slideLayouts/slideLayout2.xml" Id="R525f46c9032a46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7D9ECF-F7B8-41C9-8773-35CC73E3601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f46c9032a46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e5c02a76c44df" /><Relationship Type="http://schemas.openxmlformats.org/officeDocument/2006/relationships/image" Target="/ppt/media/image.png" Id="Rb57363df0ed649a0" /><Relationship Type="http://schemas.openxmlformats.org/officeDocument/2006/relationships/image" Target="/ppt/media/image2.png" Id="R828a32c0486d41e8" /><Relationship Type="http://schemas.openxmlformats.org/officeDocument/2006/relationships/notesSlide" Target="/ppt/notesSlides/notesSlide1.xml" Id="R78796fb0979c4c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e8fab148d4e86" /><Relationship Type="http://schemas.openxmlformats.org/officeDocument/2006/relationships/image" Target="/ppt/media/image3.png" Id="R18859a7682d34d53" /><Relationship Type="http://schemas.openxmlformats.org/officeDocument/2006/relationships/notesSlide" Target="/ppt/notesSlides/notesSlide2.xml" Id="R2075680465c64f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9efb8b88e4e49" /><Relationship Type="http://schemas.openxmlformats.org/officeDocument/2006/relationships/image" Target="/ppt/media/image4.png" Id="Ra9d7950af7fd457d" /><Relationship Type="http://schemas.openxmlformats.org/officeDocument/2006/relationships/notesSlide" Target="/ppt/notesSlides/notesSlide3.xml" Id="R28e9bf7edf8344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6d38f839d4002" /><Relationship Type="http://schemas.openxmlformats.org/officeDocument/2006/relationships/image" Target="/ppt/media/image5.png" Id="Rbfc706af12f8490a" /><Relationship Type="http://schemas.openxmlformats.org/officeDocument/2006/relationships/image" Target="/ppt/media/image6.png" Id="R0b5f0c42c2514da7" /><Relationship Type="http://schemas.openxmlformats.org/officeDocument/2006/relationships/notesSlide" Target="/ppt/notesSlides/notesSlide4.xml" Id="R41dd52909923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f923f7db64b55" /><Relationship Type="http://schemas.openxmlformats.org/officeDocument/2006/relationships/image" Target="/ppt/media/image7.png" Id="Ra34b9e7fadae4412" /><Relationship Type="http://schemas.openxmlformats.org/officeDocument/2006/relationships/image" Target="/ppt/media/image8.png" Id="Rf49141ee6e084a4f" /><Relationship Type="http://schemas.openxmlformats.org/officeDocument/2006/relationships/image" Target="/ppt/media/image9.png" Id="Rca4b581c44e54955" /><Relationship Type="http://schemas.openxmlformats.org/officeDocument/2006/relationships/image" Target="/ppt/media/image10.png" Id="R75e4d5ba7d294c73" /><Relationship Type="http://schemas.openxmlformats.org/officeDocument/2006/relationships/image" Target="/ppt/media/image11.png" Id="R429901be1b504a3a" /><Relationship Type="http://schemas.openxmlformats.org/officeDocument/2006/relationships/image" Target="/ppt/media/image12.png" Id="Ra5e435fd08a14bbd" /><Relationship Type="http://schemas.openxmlformats.org/officeDocument/2006/relationships/image" Target="/ppt/media/image13.png" Id="R010312e98239432b" /><Relationship Type="http://schemas.openxmlformats.org/officeDocument/2006/relationships/image" Target="/ppt/media/image14.png" Id="Rec3d317035744a1d" /><Relationship Type="http://schemas.openxmlformats.org/officeDocument/2006/relationships/image" Target="/ppt/media/image15.png" Id="R97689fadb76344cb" /><Relationship Type="http://schemas.openxmlformats.org/officeDocument/2006/relationships/image" Target="/ppt/media/image16.png" Id="Rd55f9db279e44e23" /><Relationship Type="http://schemas.openxmlformats.org/officeDocument/2006/relationships/image" Target="/ppt/media/image17.png" Id="Ra529a0ba771b42b6" /><Relationship Type="http://schemas.openxmlformats.org/officeDocument/2006/relationships/image" Target="/ppt/media/image18.png" Id="Rfd8ac608ba9f4a72" /><Relationship Type="http://schemas.openxmlformats.org/officeDocument/2006/relationships/image" Target="/ppt/media/image19.png" Id="R27838bb813a4416c" /><Relationship Type="http://schemas.openxmlformats.org/officeDocument/2006/relationships/notesSlide" Target="/ppt/notesSlides/notesSlide5.xml" Id="R96d88684cadf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8609b405654a17" /><Relationship Type="http://schemas.openxmlformats.org/officeDocument/2006/relationships/image" Target="/ppt/media/image20.png" Id="R24c3c0c634e14a13" /><Relationship Type="http://schemas.openxmlformats.org/officeDocument/2006/relationships/notesSlide" Target="/ppt/notesSlides/notesSlide6.xml" Id="R84625ae0b48147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cea769f234e22" /><Relationship Type="http://schemas.openxmlformats.org/officeDocument/2006/relationships/image" Target="/ppt/media/image21.png" Id="R8291426ea1bd4787" /><Relationship Type="http://schemas.openxmlformats.org/officeDocument/2006/relationships/notesSlide" Target="/ppt/notesSlides/notesSlide7.xml" Id="R036157b82bd6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484ec2df1e4af1" /><Relationship Type="http://schemas.openxmlformats.org/officeDocument/2006/relationships/image" Target="/ppt/media/image22.png" Id="R354a537fc0294e03" /><Relationship Type="http://schemas.openxmlformats.org/officeDocument/2006/relationships/notesSlide" Target="/ppt/notesSlides/notesSlide8.xml" Id="R7e412d107bb44e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44197-D154-4DAB-AAC3-1C389E09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81100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32118-86A6-4C20-8687-5F0420D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0287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FFF5">
              <a:alpha val="5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3B762-0241-440E-B5F4-66D7D02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5720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4824F-ABE9-45B6-8A99-31EEA5D7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8667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1200"/>
                </a:solidFill>
              </a:defRPr>
            </a:pPr>
            <a:r>
              <a:rPr sz="255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363df0ed649a0"/>
          <a:stretch xmlns:a="http://schemas.openxmlformats.org/drawingml/2006/main"/>
        </p:blipFill>
        <p:spPr>
          <a:xfrm xmlns:a="http://schemas.openxmlformats.org/drawingml/2006/main">
            <a:off x="800100" y="8001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B119A-B95D-465A-8887-87C2023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7335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5098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215CF-CD66-4D15-BB8D-4C260F0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8097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1200"/>
                </a:solidFill>
              </a:defRPr>
            </a:pPr>
            <a:r>
              <a:rPr sz="825" b="1">
                <a:solidFill>
                  <a:srgbClr val="341200"/>
                </a:solidFill>
              </a:rPr>
              <a:t>BOOKLET 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61177-2A4D-48F1-88CF-63A3EA4D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305050"/>
            <a:ext cx="533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6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41200"/>
                </a:solidFill>
              </a:defRPr>
            </a:pPr>
            <a:r>
              <a:rPr sz="5400" b="1">
                <a:solidFill>
                  <a:srgbClr val="341200"/>
                </a:solidFill>
              </a:rPr>
              <a:t>Toute ta fac,</a:t>
            </a:r>
          </a:p>
          <a:p xmlns:a="http://schemas.openxmlformats.org/drawingml/2006/main">
            <a:pPr algn="l">
              <a:defRPr sz="5400" b="1">
                <a:solidFill>
                  <a:srgbClr val="341200"/>
                </a:solidFill>
              </a:defRPr>
            </a:pPr>
            <a:r>
              <a:rPr sz="5400" b="1">
                <a:solidFill>
                  <a:srgbClr val="341200"/>
                </a:solidFill>
              </a:rPr>
              <a:t>au même endroit.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65B78-48FA-4693-97A7-5C42F89A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2197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1200"/>
                </a:solidFill>
              </a:defRPr>
            </a:pPr>
            <a:r>
              <a:rPr sz="1650" b="0">
                <a:solidFill>
                  <a:srgbClr val="341200"/>
                </a:solidFill>
              </a:rPr>
              <a:t>Le client universitaire alternatif qui réunit notes, planning et services ENT dans une seule expérience pensée pour le quotidien étudiant.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D4873-5A34-4CDC-B57C-6818E426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68770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5FF94-4386-4EFD-93A7-3614B2A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712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59B1A"/>
                </a:solidFill>
              </a:defRPr>
            </a:pPr>
            <a:r>
              <a:rPr sz="975" b="1">
                <a:solidFill>
                  <a:srgbClr val="859B1A"/>
                </a:solidFill>
              </a:rPr>
              <a:t>Promesse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99682-DC44-477C-A399-C8B0BD78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7448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75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Une interface plus lisible, plus directe et plus mobile que le parcours ENT fragmenté.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AB553-EC3D-4E2F-A8F1-8C65D2E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6002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Projet indépendant, non officiel, open source.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32c0486d41e8"/>
          <a:stretch xmlns:a="http://schemas.openxmlformats.org/drawingml/2006/main"/>
        </p:blipFill>
        <p:spPr>
          <a:xfrm xmlns:a="http://schemas.openxmlformats.org/drawingml/2006/main">
            <a:off x="4476750" y="6529577"/>
            <a:ext cx="7239000" cy="78958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59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F7851-BD0D-47C3-AD0C-7029925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LE CONSTAT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9908C-12FA-45DD-829E-DE9A973B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E27E6-6387-440A-AF2F-6BD48DA1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B87B5-5730-43FB-9320-5EF6528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59a7682d34d53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C1785-68CE-4D2C-BCF6-4A6B9752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06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1717"/>
                </a:solidFill>
              </a:defRPr>
            </a:pPr>
            <a:r>
              <a:rPr sz="3450" b="1">
                <a:solidFill>
                  <a:srgbClr val="171717"/>
                </a:solidFill>
              </a:rPr>
              <a:t>La vie étudiante numérique reste dispersée.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AFDEB-08D7-4A14-A2AC-B18CBD0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143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4B46"/>
                </a:solidFill>
              </a:defRPr>
            </a:pPr>
            <a:r>
              <a:rPr sz="1425" b="0">
                <a:solidFill>
                  <a:srgbClr val="4B4B46"/>
                </a:solidFill>
              </a:rPr>
              <a:t>Entre l'ENT, ADE, Notes9 et les dizaines d'applications satellites, l'étudiant change sans cesse de repère, de logique et d'interface.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D63D7-9CEC-4C6B-9FAF-50FCBCE9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6291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088E-A7C8-4799-9A89-609F8ECB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62915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C4309-A88C-4897-8207-C67E06CF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8387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66DFD-56E9-4331-A38A-93EEF10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2768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9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Flux majeurs à jongler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27E9E-B69D-40E4-AEBE-E3ECE8F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46291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4D543-24E5-4663-BAAF-FDFC3A0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462915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F038F-D57E-4FAF-8F47-8F444CE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48387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32+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ECD9D-562C-4EBB-A6BB-8D7CE2DD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52768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9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Services visibles dans le repo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76A94-3665-4A77-B0D1-38DA90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6291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9960C-F197-44EC-A1D4-7F8F41A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62915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A0A81-BDE9-41BC-B206-0466D90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48387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54FE0-64FE-4171-92B3-7F38BEC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52768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9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Dashboard visé par l'ent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08224-3867-45A0-8C36-75A8353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1771650"/>
            <a:ext cx="4686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4B107-7703-42FB-B00A-95E4E5B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1943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82A91-4C9F-4F24-8256-7B54CA5A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1943100"/>
            <a:ext cx="377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Fragmentation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D530D-A3F6-4E73-A432-2180C611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2552700"/>
            <a:ext cx="4229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Les informations utiles sont réparties entre portails, widgets, services et outils métiers peu cohérents entre eux.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230DF-C404-45E2-80CF-720D6C6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676650"/>
            <a:ext cx="4686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F99E7-0E8F-4947-9752-81CC174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5F095-718F-4D46-8DED-FA736DA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848100"/>
            <a:ext cx="377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Friction mobile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78B58-030E-408C-B615-9110BFD5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4457700"/>
            <a:ext cx="4229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 parcours quotidien n'est pas pensé comme une expérience rapide à ouvrir depuis un téléphone entre deux cours.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9E533-CFEB-4B75-816B-CA892A36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581650"/>
            <a:ext cx="4686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788D1-8B11-4606-8B76-4577BC5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753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1AA1C-A1C1-4F47-855C-501FDF7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5753100"/>
            <a:ext cx="377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Charge mentale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E3455-8E36-4CEE-9EEC-200E751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6362700"/>
            <a:ext cx="4229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Retrouver une note, un prochain cours ou le bon service demande plus d'effort qu'il ne devrait.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ACE73F-32A6-4ED8-BD4B-B8E43893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34390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B5B54B-EFAA-4B5E-9126-F8636F0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834390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D3F3B-F66D-4347-9C10-24316A8B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834390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9FE03-F893-4966-A6A7-02BBA2A3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8953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0AA591-C884-4667-85E4-3103088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8953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47A422-B4CD-4477-96EE-791C86D3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89535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Notes9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FEE54-F394-4323-AEA5-D05B9BA3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91821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B6111-BD60-438A-8449-BBD0225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91821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E83FCC-2D73-4907-87AC-064F3A02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04584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223A7-50E6-4EEB-8850-668CD7D7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107061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34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1200"/>
                </a:solidFill>
              </a:defRPr>
            </a:pPr>
            <a:r>
              <a:rPr sz="1650" b="1">
                <a:solidFill>
                  <a:srgbClr val="341200"/>
                </a:solidFill>
              </a:rPr>
              <a:t>Résultat : un quotidien numérique utile, mais peu fluide.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AB4DA8-8A02-4582-A78B-8C8EC45F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Sources : README, LoginPage, SEO copy, AvailableApplications</a:t>
            </a:r>
          </a:p>
        </p:txBody>
      </p:sp>
    </p:spTree>
    <p:extLst>
      <p:ext uri="{BB962C8B-B14F-4D97-AF65-F5344CB8AC3E}">
        <p14:creationId xmlns:p14="http://schemas.microsoft.com/office/powerpoint/2010/main" val="111172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AF643-5C7D-4ECF-8C7F-CA027591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LA RÉPONSE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4A54A-4E66-43FE-A0B0-2B9CA24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16DE-CC3A-4B92-8896-8CF06615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C800-3D6F-4127-9CED-12A1EAB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950af7fd457d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21B39-6E2D-434E-95FB-8B580FDB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l'ent regroupe les usages essentiels dans une seule interface.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B5278-3182-4383-9804-B0B6001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9718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4B46"/>
                </a:solidFill>
              </a:defRPr>
            </a:pPr>
            <a:r>
              <a:rPr sz="1425" b="0">
                <a:solidFill>
                  <a:srgbClr val="4B4B46"/>
                </a:solidFill>
              </a:rPr>
              <a:t>Le projet se positionne comme un client alternatif : il ne remplace pas les services universitaires, il les relie dans une expérience plus claire.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82338-ED3F-45BE-A154-38B88E7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400550"/>
            <a:ext cx="3219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303C0-136D-4638-9DD1-9B173EC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572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278B6-A712-47EA-A395-8B7DD8E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45720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Pilotage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61AE6-8791-4DBB-A7EC-808A134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5181600"/>
            <a:ext cx="2762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Moyenne générale, moyenne de promo et dernière note remontent dans la même vue au lieu d'obliger à ouvrir Notes9 séparément.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20DF7-DC67-4708-BDD2-8C653306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400550"/>
            <a:ext cx="3219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F6184-3A7B-4BB5-8E40-075A911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4572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EB2B1-C04D-46ED-8381-C1608CBC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45720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69195-A860-4DFB-900B-F0D5317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5181600"/>
            <a:ext cx="2762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 prochain cours, l'emploi du temps ADE et le planning détaillé remontent dans le dashboard avec le bon contexte étudiant.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45A37-A28F-41DB-BD6A-FDA5FB86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400550"/>
            <a:ext cx="3219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86DC8-3563-4B93-B381-639C8B09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572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557B0-1BEE-4384-9CCD-BFE48A12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5720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7025-C948-48DC-B9ED-1C1E0832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181600"/>
            <a:ext cx="2762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 catalogue d'applications universitaires devient consultable, recherchable et personnalisable avec favoris.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0A3A8-64C5-4BEB-A527-BF20ADC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8077200"/>
            <a:ext cx="2781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1ABC6-9931-4B57-8586-B54F425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70953-995A-4EEF-AD8C-33FA5314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828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Connexion 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FF88-FC1E-4EBF-A026-1CD3FF2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8763000"/>
            <a:ext cx="2324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L'utilisateur passe par la même authentification CAS que les services existants.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7ABC9-841C-496B-8609-17995D1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8077200"/>
            <a:ext cx="2781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BD26B-B160-415E-B791-1C211FE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68213-0015-4F46-9EDE-27BEE88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828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Onboarding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618E0-B50C-4629-A01A-47DFC9AF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8763000"/>
            <a:ext cx="2324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Année, promo, groupe TD ou TP aident l'app à afficher le bon planning et les bons raccourcis.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D48F9E-2FAD-4DEE-9FE3-705AE7A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8077200"/>
            <a:ext cx="2781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388DE-9728-444E-8DED-AD317D13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E7A63-564A-4777-B41D-CF92360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8286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291AB-9545-46D6-9519-27510B94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8763000"/>
            <a:ext cx="2324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4B46"/>
                </a:solidFill>
              </a:defRPr>
            </a:pPr>
            <a:r>
              <a:rPr sz="1050" b="0">
                <a:solidFill>
                  <a:srgbClr val="4B4B46"/>
                </a:solidFill>
              </a:rPr>
              <a:t>Une page unique devient le point d'entrée du quotidien étudiant, sur desktop comme sur mobile.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17EAF0-A78D-44DD-9099-CBA3A2A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8782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C9E409-5302-43E6-9FBD-C2DDC2A6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8782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24E6FD-A3C9-45FF-AD1A-50CD209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217295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84946-73F0-41F1-98BA-5F554FCF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22491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Notes + ADE + services + météo + PWA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79E26F-DECF-42CA-9D14-752F3CAB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Promesse produit issue du README et de l'interface de connexion.</a:t>
            </a:r>
          </a:p>
        </p:txBody>
      </p:sp>
    </p:spTree>
    <p:extLst>
      <p:ext uri="{BB962C8B-B14F-4D97-AF65-F5344CB8AC3E}">
        <p14:creationId xmlns:p14="http://schemas.microsoft.com/office/powerpoint/2010/main" val="1019509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78A6F-58CA-4D02-9E32-28D3558D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MOBILE-FIRST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D1CB-DC73-40E4-A008-93CF761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E97FF-654A-4F14-9BC5-D97C676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024EB-BABE-4D95-B1DF-DBB336E4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706af12f8490a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0DC19-76EB-4D69-87AE-5C1C9C7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6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Une expérience conçue pour être ouverte vite, partout.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3E587-B0AB-4587-B4C3-F8506F7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B1257-66B2-4FD0-9F0C-0C4F805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314700"/>
            <a:ext cx="4305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4B46"/>
                </a:solidFill>
              </a:defRPr>
            </a:pPr>
            <a:r>
              <a:rPr sz="1500" b="0">
                <a:solidFill>
                  <a:srgbClr val="4B4B46"/>
                </a:solidFill>
              </a:rPr>
              <a:t>PWA installable sur iOS, Android et ordinateur.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2E9D8-42B5-41E9-8F04-8BAF9173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5EDD2-2812-43CC-B8AB-13E6B95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076700"/>
            <a:ext cx="4305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4B46"/>
                </a:solidFill>
              </a:defRPr>
            </a:pPr>
            <a:r>
              <a:rPr sz="1500" b="0">
                <a:solidFill>
                  <a:srgbClr val="4B4B46"/>
                </a:solidFill>
              </a:rPr>
              <a:t>Page d'accueil unique pour garder l'essentiel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33196-2DC8-45EF-A66C-3DFB2CF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905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5835B-BDD5-4FAA-917F-7DA73582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838700"/>
            <a:ext cx="4305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4B46"/>
                </a:solidFill>
              </a:defRPr>
            </a:pPr>
            <a:r>
              <a:rPr sz="1500" b="0">
                <a:solidFill>
                  <a:srgbClr val="4B4B46"/>
                </a:solidFill>
              </a:rPr>
              <a:t>Onboarding pour aligner la vue avec la promo, le TD ou le TP.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47A2C-E911-4A6D-99A9-728B508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66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5D991-E978-4F68-98EF-CEF50ED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600700"/>
            <a:ext cx="4305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4B46"/>
                </a:solidFill>
              </a:defRPr>
            </a:pPr>
            <a:r>
              <a:rPr sz="1500" b="0">
                <a:solidFill>
                  <a:srgbClr val="4B4B46"/>
                </a:solidFill>
              </a:rPr>
              <a:t>Mode clair et sombre pour une consultation quotidienne.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BE0BC-9710-4366-A3BC-48CC4BDB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1485900"/>
            <a:ext cx="4953000" cy="10287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6617F-F0F4-46A8-9FB2-707A2A68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809750"/>
            <a:ext cx="2724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95048-2612-4ED2-ACDA-4739CC23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1885950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Exemple d'installation sur écran d'accueil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f0c42c2514da7"/>
          <a:srcRect xmlns:a="http://schemas.openxmlformats.org/drawingml/2006/main" l="36226" t="0" r="362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324100"/>
            <a:ext cx="4533900" cy="92202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4290F-3B6B-4A65-8DB4-1618CF99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72390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DDB05-ED5F-4492-A29D-20148EC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7543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9B1A"/>
                </a:solidFill>
              </a:defRPr>
            </a:pPr>
            <a:r>
              <a:rPr sz="1275" b="1">
                <a:solidFill>
                  <a:srgbClr val="859B1A"/>
                </a:solidFill>
              </a:rPr>
              <a:t>Ce que cela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CF89F-5084-4AE3-97E5-3B261DF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7943850"/>
            <a:ext cx="388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l'ent adopte le langage des apps du quotidien : une ouverture directe, des repères simples, des gestes familiers et un accès rapide aux infos qui comptent.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08BF5-34AB-4811-A180-E8F71EB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0172700"/>
            <a:ext cx="447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C3675-96F9-4AA8-B4B2-6F30EA98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0248900"/>
            <a:ext cx="421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Usage : entre deux cours, dans les transports, en entrant en amphi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9326A-1DFC-4D51-BC6B-7047ACBF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Le repo mentionne explicitement la PWA installable et la compatibilité mobile.</a:t>
            </a:r>
          </a:p>
        </p:txBody>
      </p:sp>
    </p:spTree>
    <p:extLst>
      <p:ext uri="{BB962C8B-B14F-4D97-AF65-F5344CB8AC3E}">
        <p14:creationId xmlns:p14="http://schemas.microsoft.com/office/powerpoint/2010/main" val="10801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45D8A-59E3-4E81-99AD-02FD6EB1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24832-FF2C-407B-BD70-DD1C056C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CB45-F00D-46DE-8E2F-03D0D33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B4B9C-9151-4EE6-9B60-B045F2A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b9e7fadae4412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BEA7A-A957-435E-B4D5-BD152BB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08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Tout l'écosystème universitaire devient plus navigable.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F705D-38E3-4141-BCA1-7B507DC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95600"/>
            <a:ext cx="666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Le projet agrège le marketplace ENT et les portlets visibles pour l'utilisateur, avec recherche et favoris dans la même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0A128-823B-4B5E-84BE-5EEAB1B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86715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1BE92-033F-49ED-BE4A-F18729D2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943350"/>
            <a:ext cx="3352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32+ icônes de services sont déjà embarquées dans le projet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7C6F2-2CD6-44AA-AA02-269713F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6101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2ED5A-1BBD-4B5E-9A37-176AD97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8006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141ee6e084a4f"/>
          <a:stretch xmlns:a="http://schemas.openxmlformats.org/drawingml/2006/main"/>
        </p:blipFill>
        <p:spPr>
          <a:xfrm xmlns:a="http://schemas.openxmlformats.org/drawingml/2006/main">
            <a:off x="1028700" y="48958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09484-A075-4B01-8710-676269E3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638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1FD3A-4100-4855-A8C2-D7738B2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6101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0630C-77C8-43E7-9F3B-1925F1C4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8006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b581c44e54955"/>
          <a:stretch xmlns:a="http://schemas.openxmlformats.org/drawingml/2006/main"/>
        </p:blipFill>
        <p:spPr>
          <a:xfrm xmlns:a="http://schemas.openxmlformats.org/drawingml/2006/main">
            <a:off x="3676650" y="48958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3B1A7-F83F-4D53-B51D-35B35AEF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5638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Moodle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C8E7B-F63B-4A89-A0DD-982BA53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46101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512DB-1D64-4325-98E4-3713216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48006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4d5ba7d294c73"/>
          <a:stretch xmlns:a="http://schemas.openxmlformats.org/drawingml/2006/main"/>
        </p:blipFill>
        <p:spPr>
          <a:xfrm xmlns:a="http://schemas.openxmlformats.org/drawingml/2006/main">
            <a:off x="6324600" y="48958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9E135-C10B-4F50-85E2-1E4CE191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5638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Messagerie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0ED15-FF59-4944-A2D0-CD0B87F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6101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D4EC1-323E-47D6-9FED-43CC2FC6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8006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901be1b504a3a"/>
          <a:stretch xmlns:a="http://schemas.openxmlformats.org/drawingml/2006/main"/>
        </p:blipFill>
        <p:spPr>
          <a:xfrm xmlns:a="http://schemas.openxmlformats.org/drawingml/2006/main">
            <a:off x="8972550" y="48958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17E08-EBC9-496F-9307-90921C71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5638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Microsoft 365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727F5-4872-4CBA-9C02-0C5C0BC2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64770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955AD-9D65-4BB9-8DF6-B96E389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66675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435fd08a14bbd"/>
          <a:stretch xmlns:a="http://schemas.openxmlformats.org/drawingml/2006/main"/>
        </p:blipFill>
        <p:spPr>
          <a:xfrm xmlns:a="http://schemas.openxmlformats.org/drawingml/2006/main">
            <a:off x="1028700" y="676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EC9AF-9F75-44B3-90FD-B1A3083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7505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Notes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5C910-D1D6-46E2-9C6E-520F84C6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64770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C954B-95D4-487B-94F4-40C24D4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66675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312e98239432b"/>
          <a:stretch xmlns:a="http://schemas.openxmlformats.org/drawingml/2006/main"/>
        </p:blipFill>
        <p:spPr>
          <a:xfrm xmlns:a="http://schemas.openxmlformats.org/drawingml/2006/main">
            <a:off x="3676650" y="676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BDD19-7BB8-42DD-BE80-0D27DE2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7505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Annuaire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95C38-974A-4F5C-8D80-A3FC057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64770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C148F-D4F0-4E5A-944F-48F530F8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66675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d317035744a1d"/>
          <a:stretch xmlns:a="http://schemas.openxmlformats.org/drawingml/2006/main"/>
        </p:blipFill>
        <p:spPr>
          <a:xfrm xmlns:a="http://schemas.openxmlformats.org/drawingml/2006/main">
            <a:off x="6324600" y="676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EAB9E-0970-4D31-90F5-4BA2C09F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7505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Sésame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991DD8-3B53-4189-9D65-F2585338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64770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F8BAA-8330-4AE4-B719-D5F11D6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6675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89fadb76344cb"/>
          <a:stretch xmlns:a="http://schemas.openxmlformats.org/drawingml/2006/main"/>
        </p:blipFill>
        <p:spPr>
          <a:xfrm xmlns:a="http://schemas.openxmlformats.org/drawingml/2006/main">
            <a:off x="8972550" y="676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8F35E0-74C9-4BA6-92BE-778BF7C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75057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Stockage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0C80C1-E5D9-447F-AD5A-16EA7D0A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3439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C8182E-B5B9-4CD1-B1B0-C3B4B36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85344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f9db279e44e23"/>
          <a:stretch xmlns:a="http://schemas.openxmlformats.org/drawingml/2006/main"/>
        </p:blipFill>
        <p:spPr>
          <a:xfrm xmlns:a="http://schemas.openxmlformats.org/drawingml/2006/main">
            <a:off x="1028700" y="8629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6CF078-88ED-485B-8510-F2880E3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93726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Docs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EB4E2E-ADED-43D2-903F-A6BD6466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83439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ECEA04-6EE8-4CBC-8290-3BEF7ED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85344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9a0ba771b42b6"/>
          <a:stretch xmlns:a="http://schemas.openxmlformats.org/drawingml/2006/main"/>
        </p:blipFill>
        <p:spPr>
          <a:xfrm xmlns:a="http://schemas.openxmlformats.org/drawingml/2006/main">
            <a:off x="3676650" y="8629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8B9933-4293-45E3-8EDC-A441DEE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93726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Stage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9B4527-B3ED-4BDD-8E4E-33EC496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83439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4C177C-DEC2-4B9D-B726-223F56A8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85344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ac608ba9f4a72"/>
          <a:stretch xmlns:a="http://schemas.openxmlformats.org/drawingml/2006/main"/>
        </p:blipFill>
        <p:spPr>
          <a:xfrm xmlns:a="http://schemas.openxmlformats.org/drawingml/2006/main">
            <a:off x="6324600" y="8629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E26801-1BF5-46F5-9794-8F1E626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93726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Webconf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A38AF6-7FD4-4CDC-A476-F411B693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834390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937F1D-A9E0-4F58-857E-7FA7715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85344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E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38bb813a4416c"/>
          <a:stretch xmlns:a="http://schemas.openxmlformats.org/drawingml/2006/main"/>
        </p:blipFill>
        <p:spPr>
          <a:xfrm xmlns:a="http://schemas.openxmlformats.org/drawingml/2006/main">
            <a:off x="8972550" y="8629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8836F-54DF-41AD-BE30-2147DA90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93726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Compte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F36ADF-22EC-46FB-83B1-495869F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190750"/>
            <a:ext cx="2857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97E37D-4AED-4262-8929-7462455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253365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1200"/>
                </a:solidFill>
              </a:defRPr>
            </a:pPr>
            <a:r>
              <a:rPr sz="1425" b="1">
                <a:solidFill>
                  <a:srgbClr val="341200"/>
                </a:solidFill>
              </a:rPr>
              <a:t>Recherche, tri, raccourcis et favoris aident à transformer un catalogue brut en espace de travail personnel.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A38428-8BA7-4CC7-8345-DF2E074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Icônes réelles extraites du projet pour montrer la largeur du catalogue.</a:t>
            </a:r>
          </a:p>
        </p:txBody>
      </p:sp>
    </p:spTree>
    <p:extLst>
      <p:ext uri="{BB962C8B-B14F-4D97-AF65-F5344CB8AC3E}">
        <p14:creationId xmlns:p14="http://schemas.microsoft.com/office/powerpoint/2010/main" val="680111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FED0E-8AC3-495D-A099-3C6D9ED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CONFIDENTIALITÉ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C2760-15F9-46E4-81D5-1ABB9B7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0AB72-1617-430F-BCCA-15AA681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73D98-72AB-43F6-928A-8404DDB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3c0c634e14a13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D362-E61E-4059-8C8C-6CF000D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77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La proposition de valeur reste compatible avec une vraie exigence de sobriété des données.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E8D0F-2019-4EFE-AFA7-0966139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105150"/>
            <a:ext cx="647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Le repo insiste sur un principe simple : relayer les services existants sans construire une base applicative qui copie les comptes étudiants.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9B9AD-E4C8-477E-8F4C-002AEC48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59105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7DA8F-A12E-4D6E-9DF0-35E68F52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7A2EA-D2E0-45A7-9256-929FBFE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476250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Pas de base dédiée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41326-A219-4984-A50C-C07CB37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53721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 projet ne maintient pas de base applicative pour stocker les comptes étudiants.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385EB-1E27-46A6-A42B-259040BC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59105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A6627-8901-4809-A2F9-1E8C6A68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762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5C3D7-AEDB-4BED-9E7D-50B9B9C8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476250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Pas de secrets dans le navigateur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1B0D1-6BD8-4F9C-95A3-14C4C5A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3721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Les identifiants ENT ne sont pas sérialisés côté client et ne finissent pas dans le cookie de session.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7F1D8-8B3F-44A7-AE34-F81716AA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59105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CC082-3174-450A-9726-52DC5EB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762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0ADBF-EF9B-45F1-866B-3B601D82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476250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Session en mémoire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9BEBC-7644-423F-84BF-A4A155F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53721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Pour conserver la compatibilité ADE, certains secrets peuvent rester temporairement en mémoire côté serveur pendant la session active.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5F22E-3BC1-4461-AD98-4967DB31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7543800"/>
            <a:ext cx="1000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A13C2-50AB-4AD1-A649-49629F27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784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9B1A"/>
                </a:solidFill>
              </a:defRPr>
            </a:pPr>
            <a:r>
              <a:rPr sz="1275" b="1">
                <a:solidFill>
                  <a:srgbClr val="859B1A"/>
                </a:solidFill>
              </a:rPr>
              <a:t>Mesures complémentaires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8617B-4AFA-48FA-AB69-B9F62F9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42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2FED4-F8E2-46F3-8507-DCB5736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8362950"/>
            <a:ext cx="887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4B46"/>
                </a:solidFill>
              </a:defRPr>
            </a:pPr>
            <a:r>
              <a:rPr sz="1200" b="0">
                <a:solidFill>
                  <a:srgbClr val="4B4B46"/>
                </a:solidFill>
              </a:rPr>
              <a:t>Caches sensibles nettoyés à la déconnexion et après échec de rafraîchissement.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FF0A7-21C1-43E1-BAE8-94FE206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791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124F6-1A3B-40E7-9964-3CCE93B7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8724900"/>
            <a:ext cx="887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4B46"/>
                </a:solidFill>
              </a:defRPr>
            </a:pPr>
            <a:r>
              <a:rPr sz="1200" b="0">
                <a:solidFill>
                  <a:srgbClr val="4B4B46"/>
                </a:solidFill>
              </a:rPr>
              <a:t>Menu debug réservé au développement, hors build de production.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B3C03-8E6B-4D4C-99A7-2FB77FE0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15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9AD5-422E-44A8-8293-8735AEAB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9086850"/>
            <a:ext cx="887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4B46"/>
                </a:solidFill>
              </a:defRPr>
            </a:pPr>
            <a:r>
              <a:rPr sz="1200" b="0">
                <a:solidFill>
                  <a:srgbClr val="4B4B46"/>
                </a:solidFill>
              </a:rPr>
              <a:t>Rate limiting basique sur l'entrée de connexion.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17825-51BC-4D7C-96A3-EC88BE0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51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D699B-E3CB-4805-886B-863EF934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9448800"/>
            <a:ext cx="887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4B46"/>
                </a:solidFill>
              </a:defRPr>
            </a:pPr>
            <a:r>
              <a:rPr sz="1200" b="0">
                <a:solidFill>
                  <a:srgbClr val="4B4B46"/>
                </a:solidFill>
              </a:rPr>
              <a:t>HTTPS et SESSION_SECRET fort restent nécessaires pour un déploiement sérieux.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3E0C3-70EB-4B66-A5E2-E406E06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924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FFF5">
              <a:alpha val="4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5F49E-9668-4579-9FD9-BBFFAD4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2533650"/>
            <a:ext cx="914400" cy="1219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29D97-2986-4CE9-A6B4-FF98689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9908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Trust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7A608-66C7-4CFD-B2EA-D93CD644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Points directement documentés dans le README et la revue sécurité du projet.</a:t>
            </a:r>
          </a:p>
        </p:txBody>
      </p:sp>
    </p:spTree>
    <p:extLst>
      <p:ext uri="{BB962C8B-B14F-4D97-AF65-F5344CB8AC3E}">
        <p14:creationId xmlns:p14="http://schemas.microsoft.com/office/powerpoint/2010/main" val="1062116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B9C8E-6CA8-42FC-83AC-EB56677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4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A6A6A-065B-4381-A5BC-D99D4C5C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14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9B1A"/>
                </a:solidFill>
              </a:defRPr>
            </a:pPr>
            <a:r>
              <a:rPr sz="1050" b="1">
                <a:solidFill>
                  <a:srgbClr val="859B1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63527-B5FA-44B0-94FA-D6CD414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FED63-6EDF-48E5-A9AD-6DA4E15B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04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1200"/>
                </a:solidFill>
              </a:defRPr>
            </a:pPr>
            <a:r>
              <a:rPr sz="210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1426ea1bd4787"/>
          <a:stretch xmlns:a="http://schemas.openxmlformats.org/drawingml/2006/main"/>
        </p:blipFill>
        <p:spPr>
          <a:xfrm xmlns:a="http://schemas.openxmlformats.org/drawingml/2006/main">
            <a:off x="742950" y="10096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286B4-6934-4081-947A-502B947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7165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6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Une base technique moderne, légère et ouverte.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A9AEF-69FC-490F-BECA-342FD20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95600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Frontend React 19, backend Express 5, PWA installable et intégrations réelles avec CAS, ENT, ADE, Planning, Notes9 et Open-Meteo.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5B4F7-4DCA-402B-B065-E9B61158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305300"/>
            <a:ext cx="5905500" cy="5734050"/>
          </a:xfrm>
          <a:prstGeom xmlns:a="http://schemas.openxmlformats.org/drawingml/2006/main" prst="roundRect">
            <a:avLst>
              <a:gd name="adj" fmla="val 1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D9517-3877-4F34-A0BF-5252B41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610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9B1A"/>
                </a:solidFill>
              </a:defRPr>
            </a:pPr>
            <a:r>
              <a:rPr sz="1275" b="1">
                <a:solidFill>
                  <a:srgbClr val="859B1A"/>
                </a:solidFill>
              </a:rPr>
              <a:t>Flux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BDB75-E650-4122-A628-8E32BC7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3340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253CA-B710-4992-A6D3-ED6D266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5816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Étudiant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3537F-AEC6-4F71-ACA1-147692AD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3340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CAAA9-3524-488D-9AE5-AC6C6253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5816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l'ent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8165B-373A-4F54-B9C4-D36080D5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7056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377EA-E77B-4843-8260-74E9015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9532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CAS / 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044CE-62AA-4BB0-915B-DCDCF133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8077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7401B-9DF5-48CA-BDC2-F96EA8C3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83248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ADE / 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22FC6-5611-4DB5-A06E-5C9EDB5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8077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8DC60-0D91-4305-A276-BB9FF1B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83248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Notes9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46CE5-F8FA-49C1-828B-D8092C51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57150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9C875-FB3B-4551-8B0C-673E2C1B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61150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80F32-FD65-4FFB-82C7-941B4742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74866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D0F79-9058-43F9-965F-0D74D85C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74866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A72FF-6F62-4DC7-B374-C1674881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305300"/>
            <a:ext cx="39433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71243-AE37-4719-8725-77FDFC46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4610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9B1A"/>
                </a:solidFill>
              </a:defRPr>
            </a:pPr>
            <a:r>
              <a:rPr sz="1275" b="1">
                <a:solidFill>
                  <a:srgbClr val="859B1A"/>
                </a:solidFill>
              </a:rPr>
              <a:t>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7E92C-2002-4961-BD62-B50B214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8C08A-B69E-4E39-98FC-7357B429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51244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React 19 + Tailwind CSS 4 + Vite 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35869-31D4-4CCF-BC88-13996450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2C789-CCF0-4D96-A014-785EE469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55816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Node.js + Express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80326-83CB-43B4-90B2-D94B265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610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82F5B-8177-4524-A4F8-C6627E2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60388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PWA via service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88E59-C408-4771-B19D-7073FF5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656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B76D98-0C4D-4EB8-BA76-21CE2E72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64960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Code source publié sous AGPL-3.0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63636-7892-43E1-8B9D-0684A144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7067550"/>
            <a:ext cx="39433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F0D46-DDE7-4A8B-A6AF-ACC36F05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7448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1200"/>
                </a:solidFill>
              </a:defRPr>
            </a:pPr>
            <a:r>
              <a:rPr sz="1275" b="1">
                <a:solidFill>
                  <a:srgbClr val="341200"/>
                </a:solidFill>
              </a:rPr>
              <a:t>Signal produit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FEE27-1250-4657-A905-3F5688AB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7924800"/>
            <a:ext cx="3371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1200"/>
                </a:solidFill>
              </a:defRPr>
            </a:pPr>
            <a:r>
              <a:rPr sz="1800" b="1">
                <a:solidFill>
                  <a:srgbClr val="341200"/>
                </a:solidFill>
              </a:rPr>
              <a:t>Le projet a déjà une base présentable : intégrations réelles, branding distinctif, logique mobile et posture open source assumée.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EC8DC-000D-48F8-ABA4-82120C75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Portée actuelle honnêtement documentée : tests surtout menés sur le BUT MMI à Lannion.</a:t>
            </a:r>
          </a:p>
        </p:txBody>
      </p:sp>
    </p:spTree>
    <p:extLst>
      <p:ext uri="{BB962C8B-B14F-4D97-AF65-F5344CB8AC3E}">
        <p14:creationId xmlns:p14="http://schemas.microsoft.com/office/powerpoint/2010/main" val="2040437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6F9AD-3CD2-4506-BAD8-7D743C776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9F1D-A369-412A-BDDC-8DFF0C1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4419600" cy="1670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02AD5-E280-4830-A17D-844CEDC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10096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60F48-1D04-4CC2-9BF4-4946F3B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8477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1200"/>
                </a:solidFill>
              </a:defRPr>
            </a:pPr>
            <a:r>
              <a:rPr sz="2550" b="1">
                <a:solidFill>
                  <a:srgbClr val="341200"/>
                </a:solidFill>
              </a:rPr>
              <a:t>l'ent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a537fc0294e03"/>
          <a:stretch xmlns:a="http://schemas.openxmlformats.org/drawingml/2006/main"/>
        </p:blipFill>
        <p:spPr>
          <a:xfrm xmlns:a="http://schemas.openxmlformats.org/drawingml/2006/main">
            <a:off x="742950" y="7810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B3374-61BB-4C05-A32E-230DC06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81200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60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41200"/>
                </a:solidFill>
              </a:defRPr>
            </a:pPr>
            <a:r>
              <a:rPr sz="3600" b="1">
                <a:solidFill>
                  <a:srgbClr val="341200"/>
                </a:solidFill>
              </a:rPr>
              <a:t>Moins de friction.</a:t>
            </a:r>
          </a:p>
          <a:p xmlns:a="http://schemas.openxmlformats.org/drawingml/2006/main">
            <a:pPr algn="l">
              <a:defRPr sz="3600" b="1">
                <a:solidFill>
                  <a:srgbClr val="341200"/>
                </a:solidFill>
              </a:defRPr>
            </a:pPr>
            <a:r>
              <a:rPr sz="3600" b="1">
                <a:solidFill>
                  <a:srgbClr val="341200"/>
                </a:solidFill>
              </a:rPr>
              <a:t>Plus de visibilité.</a:t>
            </a:r>
          </a:p>
          <a:p xmlns:a="http://schemas.openxmlformats.org/drawingml/2006/main">
            <a:pPr algn="l">
              <a:defRPr sz="3600" b="1">
                <a:solidFill>
                  <a:srgbClr val="341200"/>
                </a:solidFill>
              </a:defRPr>
            </a:pPr>
            <a:r>
              <a:rPr sz="3600" b="1">
                <a:solidFill>
                  <a:srgbClr val="341200"/>
                </a:solidFill>
              </a:rPr>
              <a:t>Une meilleure entrée</a:t>
            </a:r>
          </a:p>
          <a:p xmlns:a="http://schemas.openxmlformats.org/drawingml/2006/main">
            <a:pPr algn="l">
              <a:defRPr sz="3600" b="1">
                <a:solidFill>
                  <a:srgbClr val="341200"/>
                </a:solidFill>
              </a:defRPr>
            </a:pPr>
            <a:r>
              <a:rPr sz="3600" b="1">
                <a:solidFill>
                  <a:srgbClr val="341200"/>
                </a:solidFill>
              </a:rPr>
              <a:t>dans la vie étudiante numérique.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CADEE-945C-4A3F-8C43-BEABEA7C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4673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41200"/>
                </a:solidFill>
              </a:defRPr>
            </a:pPr>
            <a:r>
              <a:rPr sz="1575" b="0">
                <a:solidFill>
                  <a:srgbClr val="341200"/>
                </a:solidFill>
              </a:rPr>
              <a:t>l'ent montre qu'un portail étudiant peut être plus simple, plus direct et plus agréable sans renier les services existants.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920C3-0D94-4890-80DD-B660926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73342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4B6F-4E8F-4E28-B313-4DDA3F3F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7410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1200"/>
                </a:solidFill>
              </a:defRPr>
            </a:pPr>
            <a:r>
              <a:rPr sz="825" b="1">
                <a:solidFill>
                  <a:srgbClr val="341200"/>
                </a:solidFill>
              </a:rPr>
              <a:t>Projet indépendant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2C841-CE44-42B6-AFC8-06D07D32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73342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3109E-7DAB-486E-9E08-763F79A8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7410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1200"/>
                </a:solidFill>
              </a:defRPr>
            </a:pPr>
            <a:r>
              <a:rPr sz="825" b="1">
                <a:solidFill>
                  <a:srgbClr val="341200"/>
                </a:solidFill>
              </a:rPr>
              <a:t>Open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B92EF-57E4-4C6B-9069-F970C2C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028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9B1A"/>
                </a:solidFill>
              </a:defRPr>
            </a:pPr>
            <a:r>
              <a:rPr sz="1200" b="1">
                <a:solidFill>
                  <a:srgbClr val="859B1A"/>
                </a:solidFill>
              </a:rPr>
              <a:t>Pourquoi il compte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E780E-BDE8-476C-BCF2-8FD07F9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562100"/>
            <a:ext cx="5905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89DFB-463A-41D4-A079-99C4D6A7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1733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DF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18095-BC01-49F2-8188-FBF93796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17335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Pour les étudiants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1FA8A-232D-4A06-AF85-385565CA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343150"/>
            <a:ext cx="544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Un produit plus rassurant à ouvrir chaque jour, qui rapproche l'information utile et réduit le coût cognitif du parcours 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B5804-A1B6-452E-956C-8DD443DC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3486150"/>
            <a:ext cx="5905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64493-6DCD-41E6-A71C-2692F9B3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36576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B69CE-ED6E-44C3-9AB7-59FB0890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365760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Pour l'établissement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D4345-C9BE-454E-B0D9-6D967192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4267200"/>
            <a:ext cx="544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Une preuve de concept concrète sur ce que peut être une expérience étudiante plus contemporaine et mobile-first.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007F0-F36B-4A5A-AB2F-43248F2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5410200"/>
            <a:ext cx="5905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086BE-5095-4604-B063-5D2BDF1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5581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8CBE2-2220-4612-9BFF-8C4C0F0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55816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Pour le projet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D2339-F86A-4A48-8B1A-1B9BE05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6191250"/>
            <a:ext cx="544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B46"/>
                </a:solidFill>
              </a:defRPr>
            </a:pPr>
            <a:r>
              <a:rPr sz="1125" b="0">
                <a:solidFill>
                  <a:srgbClr val="4B4B46"/>
                </a:solidFill>
              </a:rPr>
              <a:t>Une base crédible pour itérer, élargir la compatibilité au-delà du BUT MMI et transformer un prototype utile en vitrine forte.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CD9CF-3388-456D-ADED-E5118D84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7772400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F735F-76D1-4735-B3D9-6785D48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809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9B1A"/>
                </a:solidFill>
              </a:defRPr>
            </a:pPr>
            <a:r>
              <a:rPr sz="1275" b="1">
                <a:solidFill>
                  <a:srgbClr val="859B1A"/>
                </a:solidFill>
              </a:rPr>
              <a:t>Repères finaux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463BF-DB19-4603-A330-275BA6E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8734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9ECA6-B443-4100-AFD1-59EDFB43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8667750"/>
            <a:ext cx="497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Client non officiel, indépendant et non affilié à l'Université de Rennes.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506B0-3359-4FA5-A90C-4ACEED6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924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CC434-8F79-46EC-88C7-1F85A0A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9182100"/>
            <a:ext cx="497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GitHub : tom-things/l-ent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70CEA-D8B3-47C5-A451-8725490B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9763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F577C-057B-43C8-8EFC-2AD8EB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9696450"/>
            <a:ext cx="497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B46"/>
                </a:solidFill>
              </a:defRPr>
            </a:pPr>
            <a:r>
              <a:rPr sz="1350" b="0">
                <a:solidFill>
                  <a:srgbClr val="4B4B46"/>
                </a:solidFill>
              </a:rPr>
              <a:t>Stack moderne, PWA installable, logique privacy-first.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0A9840-6406-4457-8E8F-6BCB667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097250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4B46"/>
                </a:solidFill>
              </a:defRPr>
            </a:pPr>
            <a:r>
              <a:rPr sz="825" b="0">
                <a:solidFill>
                  <a:srgbClr val="4B4B46"/>
                </a:solidFill>
              </a:rPr>
              <a:t>Booklet marketing réalisé à partir des éléments réels du repo l'ent.</a:t>
            </a:r>
          </a:p>
        </p:txBody>
      </p:sp>
    </p:spTree>
    <p:extLst>
      <p:ext uri="{BB962C8B-B14F-4D97-AF65-F5344CB8AC3E}">
        <p14:creationId xmlns:p14="http://schemas.microsoft.com/office/powerpoint/2010/main" val="902258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2026-04-20T12:36:15.8450000Z</dcterms:created>
  <dcterms:modified xsi:type="dcterms:W3CDTF">2026-04-20T12:36:15.8450000Z</dcterms:modified>
</coreProperties>
</file>